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webp" ContentType="image/webp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79504" y="65151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886325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webp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image" Target="../media/image-27-3.webp"/><Relationship Id="rId4" Type="http://schemas.openxmlformats.org/officeDocument/2006/relationships/image" Target="../media/image-27-4.png"/><Relationship Id="rId5" Type="http://schemas.openxmlformats.org/officeDocument/2006/relationships/image" Target="../media/image-27-5.jpg"/><Relationship Id="rId6" Type="http://schemas.openxmlformats.org/officeDocument/2006/relationships/image" Target="../media/image-27-6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1828800" cy="121615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005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600 x 400</a:t>
            </a:r>
            <a:endParaRPr lang="en-US" sz="1400" dirty="0"/>
          </a:p>
        </p:txBody>
      </p:sp>
      <p:pic>
        <p:nvPicPr>
          <p:cNvPr id="4" name="Image 0" descr="C:\Users\ashwi\Videos\movies\JSPulse Occupational Health Management System - ASHWINI KUMAR\downloaded_assets\rvs_log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144000" y="548640"/>
            <a:ext cx="2468880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219456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E293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INTERNSHIP REPORT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548640" y="292608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report submitted in partial fulfillment of the requirements for the Award of Degree of Bachelor of Technology in Computer Science and Engineering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48640" y="374904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By: ASHWINI KUMAR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548640" y="406908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50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Roll no: CSE/58/24  |  4th Semester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548640" y="5303520"/>
            <a:ext cx="5029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SUBMITTED TO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48640" y="55321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RVS College of Engineering and Technology, Jamshedpur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6217920" y="5303520"/>
            <a:ext cx="5394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DURATION &amp; SUPERVISION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6217920" y="5532120"/>
            <a:ext cx="5394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Under Supervision: Mr. Deepak Kumar (HOD, IT Dept., Jindal Steel, Patratu)</a:t>
            </a:r>
            <a:endParaRPr lang="en-US" sz="13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5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Duration: 1st June 2026 to 30th June 2026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8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Plant Overview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201168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500"/>
              </a:lnSpc>
              <a:buNone/>
            </a:pPr>
            <a:r>
              <a:rPr lang="en-US" sz="16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Jindal Steel Plant in Patratu is a facility focused on advanced steel production and downstream processing, integrating cutting-edge technology for industrial efficiency and safety.</a:t>
            </a:r>
            <a:endParaRPr lang="en-US" sz="1650" dirty="0"/>
          </a:p>
        </p:txBody>
      </p:sp>
      <p:pic>
        <p:nvPicPr>
          <p:cNvPr id="4" name="Image 0" descr="C:\Users\ashwi\Videos\movies\JSPulse Occupational Health Management System - ASHWINI KUMAR\downloaded_assets\plant_over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0" y="1828800"/>
            <a:ext cx="5605272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8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Production: Bar &amp; Wire Rod Mills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920240"/>
            <a:ext cx="228600" cy="2286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901952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8680" y="1874520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Bar Rod Mill (BRM):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868680" y="2148840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High-capacity TMT production line for construction reinforcement.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3108960"/>
            <a:ext cx="228600" cy="2286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3090672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68680" y="3063240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Wire Rod Mill (WRM):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868680" y="3337560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Specialized unit for precision wire rod manufacturing.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4297680"/>
            <a:ext cx="228600" cy="2286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4279392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68680" y="4251960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Quality Control: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868680" y="4526280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Advanced rolling processes ensuring uniform material strength and quality.</a:t>
            </a:r>
            <a:endParaRPr lang="en-US" sz="1350" dirty="0"/>
          </a:p>
        </p:txBody>
      </p:sp>
      <p:pic>
        <p:nvPicPr>
          <p:cNvPr id="15" name="Image 0" descr="C:\Users\ashwi\Videos\movies\JSPulse Occupational Health Management System - ASHWINI KUMAR\downloaded_assets\brm_mill.web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0" y="1828800"/>
            <a:ext cx="5605272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8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Downstream: Rebar Service Centre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920240"/>
            <a:ext cx="228600" cy="2286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901952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*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8680" y="1874520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Cut &amp; Bend: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868680" y="2148840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Fully customized, pre-processed rebar to site specifications.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3108960"/>
            <a:ext cx="228600" cy="2286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3090672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*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68680" y="3063240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Weld Mesh: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868680" y="3337560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High-strength mesh support for civil infrastructure.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4297680"/>
            <a:ext cx="228600" cy="2286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4279392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*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68680" y="4251960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Supply Efficiency: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868680" y="4526280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Optimizing site operations by reducing construction scrap significantly.</a:t>
            </a:r>
            <a:endParaRPr lang="en-US" sz="1350" dirty="0"/>
          </a:p>
        </p:txBody>
      </p:sp>
      <p:pic>
        <p:nvPicPr>
          <p:cNvPr id="15" name="Image 0" descr="C:\Users\ashwi\Videos\movies\JSPulse Occupational Health Management System - ASHWINI KUMAR\downloaded_assets\rebar_mach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0" y="1828800"/>
            <a:ext cx="5605272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8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Department: IT Department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920240"/>
            <a:ext cx="228600" cy="2286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901952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8680" y="1874520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Network Infrastructure: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868680" y="2148840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Managing the robust industrial communication network.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3108960"/>
            <a:ext cx="228600" cy="2286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3090672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68680" y="3063240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Enterprise Operations: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868680" y="3337560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Supporting SAP, production scheduling, and inventory systems.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4297680"/>
            <a:ext cx="228600" cy="2286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4279392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68680" y="4251960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Cybersecurity: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868680" y="4526280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Ensuring a secure environment for all OT/IT industrial data.</a:t>
            </a:r>
            <a:endParaRPr lang="en-US" sz="1350" dirty="0"/>
          </a:p>
        </p:txBody>
      </p:sp>
      <p:pic>
        <p:nvPicPr>
          <p:cNvPr id="15" name="Image 0" descr="C:\Users\ashwi\Videos\movies\JSPulse Occupational Health Management System - ASHWINI KUMAR\downloaded_assets\it_departmen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0" y="1828800"/>
            <a:ext cx="5605272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8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Department: Occupational Health Centres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920240"/>
            <a:ext cx="228600" cy="2286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901952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8680" y="1874520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Emergency Care: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868680" y="2148840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On-site medical response teams available 24/7.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3108960"/>
            <a:ext cx="228600" cy="2286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3090672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68680" y="3063240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Wellness Monitoring: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868680" y="3337560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Periodic industrial health screenings for all plant personnel.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4297680"/>
            <a:ext cx="228600" cy="2286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4279392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68680" y="4251960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Safety Standards: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868680" y="4526280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Promoting industrial hygiene and proactive safety protocols.</a:t>
            </a:r>
            <a:endParaRPr lang="en-US" sz="1350" dirty="0"/>
          </a:p>
        </p:txBody>
      </p:sp>
      <p:pic>
        <p:nvPicPr>
          <p:cNvPr id="15" name="Image 0" descr="C:\Users\ashwi\Videos\movies\JSPulse Occupational Health Management System - ASHWINI KUMAR\downloaded_assets\ohc_collag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0" y="1828800"/>
            <a:ext cx="5605272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8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Challenges of Manual OHC Operations (Before JSPulse)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920240"/>
            <a:ext cx="228600" cy="22860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901952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!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8680" y="1874520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991B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Slow Patient Registration: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868680" y="2148840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Manual entry of employee details increases patient waiting times, leading to workflow inefficiency and delays.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3154680"/>
            <a:ext cx="228600" cy="22860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3136392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!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68680" y="3108960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991B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Prescription Human Errors: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868680" y="3383280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Mistakes in manually transcribing patient information, dosages, and diagnoses affect treatment quality and safety.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4389120"/>
            <a:ext cx="228600" cy="22860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4370832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!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68680" y="4343400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991B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Inventory Management Issues: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868680" y="4617720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Manual monitoring of medicines can lead to critical stock shortages, overstocking, and unnoticed drug expiries.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217920" y="1920240"/>
            <a:ext cx="228600" cy="22860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6" name="Text 14"/>
          <p:cNvSpPr/>
          <p:nvPr/>
        </p:nvSpPr>
        <p:spPr>
          <a:xfrm>
            <a:off x="6217920" y="1901952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!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537960" y="18745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991B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Delayed Health Surveillance: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6537960" y="214884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Tracking mandatory periodic medical examinations (PME) manually is slow, causing employees to miss required check-ups.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217920" y="3154680"/>
            <a:ext cx="228600" cy="22860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0" name="Text 18"/>
          <p:cNvSpPr/>
          <p:nvPr/>
        </p:nvSpPr>
        <p:spPr>
          <a:xfrm>
            <a:off x="6217920" y="3136392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!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537960" y="31089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991B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Difficulty in Report Generation: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6537960" y="338328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Compiling monthly, quarterly, and annual statutory reports manually consumes significant manpower and clinical time.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6217920" y="4389120"/>
            <a:ext cx="228600" cy="22860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4" name="Text 22"/>
          <p:cNvSpPr/>
          <p:nvPr/>
        </p:nvSpPr>
        <p:spPr>
          <a:xfrm>
            <a:off x="6217920" y="4370832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!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537960" y="434340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991B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Compliance Challenges: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6537960" y="461772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Maintaining compliance with occupational health regulations is difficult without digital tracking and instant audit logs.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shwi\Videos\movies\JSPulse Occupational Health Management System - ASHWINI KUMAR\src\assets\app-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65760"/>
            <a:ext cx="1188720" cy="1188720"/>
          </a:xfrm>
          <a:prstGeom prst="rect">
            <a:avLst/>
          </a:prstGeom>
        </p:spPr>
      </p:pic>
      <p:pic>
        <p:nvPicPr>
          <p:cNvPr id="3" name="Image 1" descr="C:\Users\ashwi\Videos\movies\JSPulse Occupational Health Management System - ASHWINI KUMAR\build\jindal-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0" y="274320"/>
            <a:ext cx="2286000" cy="11887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457200" y="1737360"/>
            <a:ext cx="1828800" cy="64008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5" name="Text 1"/>
          <p:cNvSpPr/>
          <p:nvPr/>
        </p:nvSpPr>
        <p:spPr>
          <a:xfrm>
            <a:off x="457200" y="192024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JSPulse OHMS</a:t>
            </a:r>
            <a:endParaRPr lang="en-US" sz="4200" dirty="0"/>
          </a:p>
        </p:txBody>
      </p:sp>
      <p:sp>
        <p:nvSpPr>
          <p:cNvPr id="6" name="Text 2"/>
          <p:cNvSpPr/>
          <p:nvPr/>
        </p:nvSpPr>
        <p:spPr>
          <a:xfrm>
            <a:off x="457200" y="265176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Occupational Health Management System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457200" y="329184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 Offline-First, Fully Automated Desktop Application for Industrial Plant Clinic Operations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457200" y="4023360"/>
            <a:ext cx="11247120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9" name="Text 5"/>
          <p:cNvSpPr/>
          <p:nvPr/>
        </p:nvSpPr>
        <p:spPr>
          <a:xfrm>
            <a:off x="457200" y="4297680"/>
            <a:ext cx="3200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Developed By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Ashwini Kumar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Intern ID: JSPL-2026-IT-042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B.Tech CSE</a:t>
            </a: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4114800" y="4297680"/>
            <a:ext cx="3200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Host Organization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Jindal Steel &amp; Power Ltd.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Raigarh &amp; Patratu Plants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 &amp; OHC Medical Services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7772400" y="4297680"/>
            <a:ext cx="3474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Technology Stack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Electron 42 + React 19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Vite + IndexedDB + Recharts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Offline NLP AI ChatBrain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457200" y="5760720"/>
            <a:ext cx="11247120" cy="6400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3" name="Text 9"/>
          <p:cNvSpPr/>
          <p:nvPr/>
        </p:nvSpPr>
        <p:spPr>
          <a:xfrm>
            <a:off x="457200" y="594360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Version 1.0.26  |  Summer 2026 Internship  |  Windows x64 Native Installer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8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WHAT IS JSPulse OHMS? - THE DASHBOARD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548640" y="841248"/>
            <a:ext cx="11064240" cy="36576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4" name="Image 0" descr="C:\Users\ashwi\Videos\movies\JSPulse Occupational Health Management System - ASHWINI KUMAR\src\assets\app-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9920" y="137160"/>
            <a:ext cx="59436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105156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i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JSPulse OHMS is an offline-first desktop application for Occupational Health Centers inside industrial steel plants. It replaces paper ledger books with an automated, interconnected digital system.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48640" y="1965960"/>
            <a:ext cx="45720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Digital OPD form with auto-ID - 15 sec per entry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Automated prescription sync every 10 seconds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Real-time stock deduction with fuzzy matching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Monthly reports auto-generated from live data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One-click PDF/Excel compliance exports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- 100% offline - runs inside Electron shell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Built-in drug interaction safety matrix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458968" y="978408"/>
            <a:ext cx="6181344" cy="349300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pic>
        <p:nvPicPr>
          <p:cNvPr id="8" name="Image 1" descr="C:\Users\ashwi\Videos\movies\JSPulse Occupational Health Management System - ASHWINI KUMAR\screenshots\dashboar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005840"/>
            <a:ext cx="6126480" cy="343814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486400" y="4517136"/>
            <a:ext cx="6126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JSPulse OHMS Dashboard - Live KPIs, Charts &amp; Alerts</a:t>
            </a:r>
            <a:endParaRPr lang="en-US" sz="900" dirty="0"/>
          </a:p>
        </p:txBody>
      </p:sp>
      <p:sp>
        <p:nvSpPr>
          <p:cNvPr id="10" name="Shape 6"/>
          <p:cNvSpPr/>
          <p:nvPr/>
        </p:nvSpPr>
        <p:spPr>
          <a:xfrm>
            <a:off x="548640" y="5120640"/>
            <a:ext cx="5029200" cy="1188720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685800" y="521208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b="1" dirty="0">
                <a:solidFill>
                  <a:srgbClr val="991B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BEFORE: Paper ledgers, 2 min/entry,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b="1" dirty="0">
                <a:solidFill>
                  <a:srgbClr val="991B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manual monthly reports (4-6 hours)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685800" y="566928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991B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Manual stock counts, no safety checks,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991B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cloud apps crash on plant intranet outage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6035040" y="5120640"/>
            <a:ext cx="5577840" cy="118872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6172200" y="521208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b="1" dirty="0">
                <a:solidFill>
                  <a:srgbClr val="064E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AFTER: 15 sec/entry, auto-sync pipeline,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b="1" dirty="0">
                <a:solidFill>
                  <a:srgbClr val="064E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one-click MIS reports, zero data loss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6172200" y="566928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064E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100% offline, real-time stock deduction,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064E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drug interaction safety, audit-ready exports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79504" y="65151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8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HOW DOES IT WORK? - COMPLETE DATA PIPELINE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548640" y="841248"/>
            <a:ext cx="1106424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0584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patient visit triggers an automated chain reaction. Background sync threads poll every 10-15 seconds: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554480"/>
            <a:ext cx="1828800" cy="640080"/>
          </a:xfrm>
          <a:prstGeom prst="roundRect">
            <a:avLst/>
          </a:prstGeom>
          <a:solidFill>
            <a:srgbClr val="1E3A8A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55448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 1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OPD Card Form</a:t>
            </a:r>
            <a:endParaRPr lang="en-US" sz="1000" dirty="0"/>
          </a:p>
        </p:txBody>
      </p:sp>
      <p:pic>
        <p:nvPicPr>
          <p:cNvPr id="7" name="Image 0" descr="C:\Users\ashwi\Videos\movies\JSPulse Occupational Health Management System - ASHWINI KUMAR\screenshots\opdc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2286000"/>
            <a:ext cx="1828800" cy="102412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74320" y="333756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Patient Registration</a:t>
            </a:r>
            <a:endParaRPr lang="en-US" sz="750" dirty="0"/>
          </a:p>
        </p:txBody>
      </p:sp>
      <p:sp>
        <p:nvSpPr>
          <p:cNvPr id="9" name="Shape 6"/>
          <p:cNvSpPr/>
          <p:nvPr/>
        </p:nvSpPr>
        <p:spPr>
          <a:xfrm>
            <a:off x="2286000" y="2606040"/>
            <a:ext cx="320040" cy="320040"/>
          </a:xfrm>
          <a:prstGeom prst="rightArrow">
            <a:avLst/>
          </a:prstGeom>
          <a:solidFill>
            <a:srgbClr val="3B82F6"/>
          </a:solidFill>
          <a:ln/>
        </p:spPr>
      </p:sp>
      <p:sp>
        <p:nvSpPr>
          <p:cNvPr id="10" name="Text 7"/>
          <p:cNvSpPr/>
          <p:nvPr/>
        </p:nvSpPr>
        <p:spPr>
          <a:xfrm>
            <a:off x="2240280" y="22402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Auto-Sync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sec</a:t>
            </a:r>
            <a:endParaRPr lang="en-US" sz="700" dirty="0"/>
          </a:p>
        </p:txBody>
      </p:sp>
      <p:sp>
        <p:nvSpPr>
          <p:cNvPr id="11" name="Shape 8"/>
          <p:cNvSpPr/>
          <p:nvPr/>
        </p:nvSpPr>
        <p:spPr>
          <a:xfrm>
            <a:off x="2834640" y="1554480"/>
            <a:ext cx="1828800" cy="640080"/>
          </a:xfrm>
          <a:prstGeom prst="roundRect">
            <a:avLst/>
          </a:prstGeom>
          <a:solidFill>
            <a:srgbClr val="E0F2FE"/>
          </a:solidFill>
          <a:ln w="19050">
            <a:solidFill>
              <a:srgbClr val="BAE6F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834640" y="155448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 2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OPD Daily Tally</a:t>
            </a:r>
            <a:endParaRPr lang="en-US" sz="1000" dirty="0"/>
          </a:p>
        </p:txBody>
      </p:sp>
      <p:pic>
        <p:nvPicPr>
          <p:cNvPr id="13" name="Image 1" descr="C:\Users\ashwi\Videos\movies\JSPulse Occupational Health Management System - ASHWINI KUMAR\screenshots\op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4640" y="2286000"/>
            <a:ext cx="1828800" cy="102412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834640" y="333756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Patient Log Sheet</a:t>
            </a:r>
            <a:endParaRPr lang="en-US" sz="750" dirty="0"/>
          </a:p>
        </p:txBody>
      </p:sp>
      <p:sp>
        <p:nvSpPr>
          <p:cNvPr id="15" name="Shape 11"/>
          <p:cNvSpPr/>
          <p:nvPr/>
        </p:nvSpPr>
        <p:spPr>
          <a:xfrm>
            <a:off x="4846320" y="2606040"/>
            <a:ext cx="320040" cy="320040"/>
          </a:xfrm>
          <a:prstGeom prst="rightArrow">
            <a:avLst/>
          </a:prstGeom>
          <a:solidFill>
            <a:srgbClr val="10B981"/>
          </a:solidFill>
          <a:ln/>
        </p:spPr>
      </p:sp>
      <p:sp>
        <p:nvSpPr>
          <p:cNvPr id="16" name="Text 12"/>
          <p:cNvSpPr/>
          <p:nvPr/>
        </p:nvSpPr>
        <p:spPr>
          <a:xfrm>
            <a:off x="4800600" y="22402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Auto-Sync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sec</a:t>
            </a:r>
            <a:endParaRPr lang="en-US" sz="700" dirty="0"/>
          </a:p>
        </p:txBody>
      </p:sp>
      <p:sp>
        <p:nvSpPr>
          <p:cNvPr id="17" name="Shape 13"/>
          <p:cNvSpPr/>
          <p:nvPr/>
        </p:nvSpPr>
        <p:spPr>
          <a:xfrm>
            <a:off x="5394960" y="1554480"/>
            <a:ext cx="1828800" cy="64008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FDE68A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5394960" y="155448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4530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 3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B4530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Dispense Queue</a:t>
            </a:r>
            <a:endParaRPr lang="en-US" sz="1000" dirty="0"/>
          </a:p>
        </p:txBody>
      </p:sp>
      <p:pic>
        <p:nvPicPr>
          <p:cNvPr id="19" name="Image 2" descr="C:\Users\ashwi\Videos\movies\JSPulse Occupational Health Management System - ASHWINI KUMAR\screenshots\dispens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0" y="2286000"/>
            <a:ext cx="1828800" cy="102412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394960" y="333756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Pharmacy Queue</a:t>
            </a:r>
            <a:endParaRPr lang="en-US" sz="750" dirty="0"/>
          </a:p>
        </p:txBody>
      </p:sp>
      <p:sp>
        <p:nvSpPr>
          <p:cNvPr id="21" name="Shape 16"/>
          <p:cNvSpPr/>
          <p:nvPr/>
        </p:nvSpPr>
        <p:spPr>
          <a:xfrm>
            <a:off x="7406640" y="2606040"/>
            <a:ext cx="320040" cy="320040"/>
          </a:xfrm>
          <a:prstGeom prst="rightArrow">
            <a:avLst/>
          </a:prstGeom>
          <a:solidFill>
            <a:srgbClr val="10B981"/>
          </a:solidFill>
          <a:ln/>
        </p:spPr>
      </p:sp>
      <p:sp>
        <p:nvSpPr>
          <p:cNvPr id="22" name="Shape 17"/>
          <p:cNvSpPr/>
          <p:nvPr/>
        </p:nvSpPr>
        <p:spPr>
          <a:xfrm>
            <a:off x="7863840" y="1554480"/>
            <a:ext cx="1828800" cy="64008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A7F3D0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7863840" y="155448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53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 4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453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Medicine Consume</a:t>
            </a:r>
            <a:endParaRPr lang="en-US" sz="1000" dirty="0"/>
          </a:p>
        </p:txBody>
      </p:sp>
      <p:pic>
        <p:nvPicPr>
          <p:cNvPr id="24" name="Image 3" descr="C:\Users\ashwi\Videos\movies\JSPulse Occupational Health Management System - ASHWINI KUMAR\screenshots\medconsum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3840" y="2286000"/>
            <a:ext cx="1828800" cy="102412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863840" y="333756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Consumption Grid</a:t>
            </a:r>
            <a:endParaRPr lang="en-US" sz="750" dirty="0"/>
          </a:p>
        </p:txBody>
      </p:sp>
      <p:sp>
        <p:nvSpPr>
          <p:cNvPr id="26" name="Shape 20"/>
          <p:cNvSpPr/>
          <p:nvPr/>
        </p:nvSpPr>
        <p:spPr>
          <a:xfrm>
            <a:off x="9875520" y="2606040"/>
            <a:ext cx="320040" cy="320040"/>
          </a:xfrm>
          <a:prstGeom prst="rightArrow">
            <a:avLst/>
          </a:prstGeom>
          <a:solidFill>
            <a:srgbClr val="EF4444"/>
          </a:solidFill>
          <a:ln/>
        </p:spPr>
      </p:sp>
      <p:sp>
        <p:nvSpPr>
          <p:cNvPr id="27" name="Shape 21"/>
          <p:cNvSpPr/>
          <p:nvPr/>
        </p:nvSpPr>
        <p:spPr>
          <a:xfrm>
            <a:off x="10149840" y="1554480"/>
            <a:ext cx="1828800" cy="640080"/>
          </a:xfrm>
          <a:prstGeom prst="roundRect">
            <a:avLst/>
          </a:prstGeom>
          <a:solidFill>
            <a:srgbClr val="FEE2E2"/>
          </a:solidFill>
          <a:ln w="19050">
            <a:solidFill>
              <a:srgbClr val="FCA5A5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10149840" y="155448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91B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 5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991B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Daily Consume</a:t>
            </a:r>
            <a:endParaRPr lang="en-US" sz="1000" dirty="0"/>
          </a:p>
        </p:txBody>
      </p:sp>
      <p:pic>
        <p:nvPicPr>
          <p:cNvPr id="29" name="Image 4" descr="C:\Users\ashwi\Videos\movies\JSPulse Occupational Health Management System - ASHWINI KUMAR\screenshots\shif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49840" y="2286000"/>
            <a:ext cx="1828800" cy="1024128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10149840" y="333756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Stock Deduction</a:t>
            </a:r>
            <a:endParaRPr lang="en-US" sz="750" dirty="0"/>
          </a:p>
        </p:txBody>
      </p:sp>
      <p:sp>
        <p:nvSpPr>
          <p:cNvPr id="31" name="Shape 24"/>
          <p:cNvSpPr/>
          <p:nvPr/>
        </p:nvSpPr>
        <p:spPr>
          <a:xfrm>
            <a:off x="2468880" y="3749040"/>
            <a:ext cx="320040" cy="320040"/>
          </a:xfrm>
          <a:prstGeom prst="downArrow">
            <a:avLst/>
          </a:prstGeom>
          <a:solidFill>
            <a:srgbClr val="3B82F6"/>
          </a:solidFill>
          <a:ln/>
        </p:spPr>
      </p:sp>
      <p:sp>
        <p:nvSpPr>
          <p:cNvPr id="32" name="Shape 25"/>
          <p:cNvSpPr/>
          <p:nvPr/>
        </p:nvSpPr>
        <p:spPr>
          <a:xfrm>
            <a:off x="6858000" y="3749040"/>
            <a:ext cx="320040" cy="320040"/>
          </a:xfrm>
          <a:prstGeom prst="downArrow">
            <a:avLst/>
          </a:prstGeom>
          <a:solidFill>
            <a:srgbClr val="3B82F6"/>
          </a:solidFill>
          <a:ln/>
        </p:spPr>
      </p:sp>
      <p:sp>
        <p:nvSpPr>
          <p:cNvPr id="33" name="Shape 26"/>
          <p:cNvSpPr/>
          <p:nvPr/>
        </p:nvSpPr>
        <p:spPr>
          <a:xfrm>
            <a:off x="10972800" y="3749040"/>
            <a:ext cx="320040" cy="320040"/>
          </a:xfrm>
          <a:prstGeom prst="downArrow">
            <a:avLst/>
          </a:prstGeom>
          <a:solidFill>
            <a:srgbClr val="EF4444"/>
          </a:solidFill>
          <a:ln/>
        </p:spPr>
      </p:sp>
      <p:sp>
        <p:nvSpPr>
          <p:cNvPr id="34" name="Shape 27"/>
          <p:cNvSpPr/>
          <p:nvPr/>
        </p:nvSpPr>
        <p:spPr>
          <a:xfrm>
            <a:off x="274320" y="4206240"/>
            <a:ext cx="1828800" cy="640080"/>
          </a:xfrm>
          <a:prstGeom prst="roundRect">
            <a:avLst/>
          </a:prstGeom>
          <a:solidFill>
            <a:srgbClr val="E0F2FE"/>
          </a:solidFill>
          <a:ln w="19050">
            <a:solidFill>
              <a:srgbClr val="BAE6FD"/>
            </a:solidFill>
            <a:prstDash val="solid"/>
          </a:ln>
        </p:spPr>
      </p:sp>
      <p:sp>
        <p:nvSpPr>
          <p:cNvPr id="35" name="Text 28"/>
          <p:cNvSpPr/>
          <p:nvPr/>
        </p:nvSpPr>
        <p:spPr>
          <a:xfrm>
            <a:off x="274320" y="42062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369A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 6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369A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Monthly Balance</a:t>
            </a:r>
            <a:endParaRPr lang="en-US" sz="1000" dirty="0"/>
          </a:p>
        </p:txBody>
      </p:sp>
      <p:pic>
        <p:nvPicPr>
          <p:cNvPr id="36" name="Image 5" descr="C:\Users\ashwi\Videos\movies\JSPulse Occupational Health Management System - ASHWINI KUMAR\screenshots\monthlybalanc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4320" y="4937760"/>
            <a:ext cx="1828800" cy="1024128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274320" y="598932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Yearly Ledger</a:t>
            </a:r>
            <a:endParaRPr lang="en-US" sz="750" dirty="0"/>
          </a:p>
        </p:txBody>
      </p:sp>
      <p:sp>
        <p:nvSpPr>
          <p:cNvPr id="38" name="Shape 30"/>
          <p:cNvSpPr/>
          <p:nvPr/>
        </p:nvSpPr>
        <p:spPr>
          <a:xfrm>
            <a:off x="5029200" y="4206240"/>
            <a:ext cx="1828800" cy="640080"/>
          </a:xfrm>
          <a:prstGeom prst="roundRect">
            <a:avLst/>
          </a:prstGeom>
          <a:solidFill>
            <a:srgbClr val="D1FAE5"/>
          </a:solidFill>
          <a:ln w="19050">
            <a:solidFill>
              <a:srgbClr val="A7F3D0"/>
            </a:solidFill>
            <a:prstDash val="solid"/>
          </a:ln>
        </p:spPr>
      </p:sp>
      <p:sp>
        <p:nvSpPr>
          <p:cNvPr id="39" name="Text 31"/>
          <p:cNvSpPr/>
          <p:nvPr/>
        </p:nvSpPr>
        <p:spPr>
          <a:xfrm>
            <a:off x="5029200" y="42062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4E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Medicine Stock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64E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Register</a:t>
            </a:r>
            <a:endParaRPr lang="en-US" sz="1000" dirty="0"/>
          </a:p>
        </p:txBody>
      </p:sp>
      <p:pic>
        <p:nvPicPr>
          <p:cNvPr id="40" name="Image 6" descr="C:\Users\ashwi\Videos\movies\JSPulse Occupational Health Management System - ASHWINI KUMAR\screenshots\inventory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29200" y="4937760"/>
            <a:ext cx="1828800" cy="1024128"/>
          </a:xfrm>
          <a:prstGeom prst="rect">
            <a:avLst/>
          </a:prstGeom>
        </p:spPr>
      </p:pic>
      <p:sp>
        <p:nvSpPr>
          <p:cNvPr id="41" name="Text 32"/>
          <p:cNvSpPr/>
          <p:nvPr/>
        </p:nvSpPr>
        <p:spPr>
          <a:xfrm>
            <a:off x="5029200" y="598932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Inventory Tracking</a:t>
            </a:r>
            <a:endParaRPr lang="en-US" sz="750" dirty="0"/>
          </a:p>
        </p:txBody>
      </p:sp>
      <p:sp>
        <p:nvSpPr>
          <p:cNvPr id="42" name="Shape 33"/>
          <p:cNvSpPr/>
          <p:nvPr/>
        </p:nvSpPr>
        <p:spPr>
          <a:xfrm>
            <a:off x="9601200" y="4206240"/>
            <a:ext cx="2286000" cy="640080"/>
          </a:xfrm>
          <a:prstGeom prst="roundRect">
            <a:avLst/>
          </a:prstGeom>
          <a:solidFill>
            <a:srgbClr val="10B981"/>
          </a:solidFill>
          <a:ln/>
        </p:spPr>
      </p:sp>
      <p:sp>
        <p:nvSpPr>
          <p:cNvPr id="43" name="Text 34"/>
          <p:cNvSpPr/>
          <p:nvPr/>
        </p:nvSpPr>
        <p:spPr>
          <a:xfrm>
            <a:off x="9601200" y="420624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 7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Monthly MIS Report</a:t>
            </a:r>
            <a:endParaRPr lang="en-US" sz="1000" dirty="0"/>
          </a:p>
        </p:txBody>
      </p:sp>
      <p:pic>
        <p:nvPicPr>
          <p:cNvPr id="44" name="Image 7" descr="C:\Users\ashwi\Videos\movies\JSPulse Occupational Health Management System - ASHWINI KUMAR\screenshots\mis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01200" y="4937760"/>
            <a:ext cx="2286000" cy="1024128"/>
          </a:xfrm>
          <a:prstGeom prst="rect">
            <a:avLst/>
          </a:prstGeom>
        </p:spPr>
      </p:pic>
      <p:sp>
        <p:nvSpPr>
          <p:cNvPr id="45" name="Text 35"/>
          <p:cNvSpPr/>
          <p:nvPr/>
        </p:nvSpPr>
        <p:spPr>
          <a:xfrm>
            <a:off x="9601200" y="598932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Analytics &amp; Compliance</a:t>
            </a:r>
            <a:endParaRPr lang="en-US" sz="750" dirty="0"/>
          </a:p>
        </p:txBody>
      </p:sp>
      <p:sp>
        <p:nvSpPr>
          <p:cNvPr id="46" name="Shape 36"/>
          <p:cNvSpPr/>
          <p:nvPr/>
        </p:nvSpPr>
        <p:spPr>
          <a:xfrm>
            <a:off x="2286000" y="5212080"/>
            <a:ext cx="320040" cy="320040"/>
          </a:xfrm>
          <a:prstGeom prst="rightArrow">
            <a:avLst/>
          </a:prstGeom>
          <a:solidFill>
            <a:srgbClr val="94A3B8"/>
          </a:solidFill>
          <a:ln/>
        </p:spPr>
      </p:sp>
      <p:sp>
        <p:nvSpPr>
          <p:cNvPr id="47" name="Shape 37"/>
          <p:cNvSpPr/>
          <p:nvPr/>
        </p:nvSpPr>
        <p:spPr>
          <a:xfrm>
            <a:off x="3657600" y="5212080"/>
            <a:ext cx="320040" cy="320040"/>
          </a:xfrm>
          <a:prstGeom prst="rightArrow">
            <a:avLst/>
          </a:prstGeom>
          <a:solidFill>
            <a:srgbClr val="94A3B8"/>
          </a:solidFill>
          <a:ln/>
        </p:spPr>
      </p:sp>
      <p:sp>
        <p:nvSpPr>
          <p:cNvPr id="48" name="Shape 38"/>
          <p:cNvSpPr/>
          <p:nvPr/>
        </p:nvSpPr>
        <p:spPr>
          <a:xfrm>
            <a:off x="7040880" y="5212080"/>
            <a:ext cx="320040" cy="320040"/>
          </a:xfrm>
          <a:prstGeom prst="rightArrow">
            <a:avLst/>
          </a:prstGeom>
          <a:solidFill>
            <a:srgbClr val="94A3B8"/>
          </a:solidFill>
          <a:ln/>
        </p:spPr>
      </p:sp>
      <p:sp>
        <p:nvSpPr>
          <p:cNvPr id="49" name="Shape 39"/>
          <p:cNvSpPr/>
          <p:nvPr/>
        </p:nvSpPr>
        <p:spPr>
          <a:xfrm>
            <a:off x="8412480" y="5212080"/>
            <a:ext cx="320040" cy="320040"/>
          </a:xfrm>
          <a:prstGeom prst="rightArrow">
            <a:avLst/>
          </a:prstGeom>
          <a:solidFill>
            <a:srgbClr val="94A3B8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79504" y="65151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8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SCREEN: OPD CARD - PATIENT REGISTRATION FORM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548640" y="841248"/>
            <a:ext cx="11064240" cy="36576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4" name="Image 0" descr="C:\Users\ashwi\Videos\movies\JSPulse Occupational Health Management System - ASHWINI KUMAR\src\assets\app-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9920" y="137160"/>
            <a:ext cx="594360" cy="5943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38328" y="1069848"/>
            <a:ext cx="6912864" cy="391363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pic>
        <p:nvPicPr>
          <p:cNvPr id="6" name="Image 1" descr="C:\Users\ashwi\Videos\movies\JSPulse Occupational Health Management System - ASHWINI KUMAR\screenshots\opdcar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6858000" cy="385876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65760" y="502920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OPD Card Form - Patient vitals, diagnosis, medicines, and doctor assignment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7498080" y="10972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Features: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7498080" y="1463040"/>
            <a:ext cx="41148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Auto-generates unique OPD-XXX IDs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Captures 23 data fields per visit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Vitals: Temp, SPO2, PR, BP, Weight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Medicines with dosage parsing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Auto-save with 1.5s debounce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Printable card with Jindal logo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Multi-card tabbed interface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Regex quantity extraction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Background sync to OPD Tally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Sets extracted=false flag for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pharmacy auto-extraction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365760" y="5303520"/>
            <a:ext cx="3200400" cy="731520"/>
          </a:xfrm>
          <a:prstGeom prst="roundRect">
            <a:avLst/>
          </a:prstGeom>
          <a:solidFill>
            <a:srgbClr val="1E3A8A"/>
          </a:solidFill>
          <a:ln/>
        </p:spPr>
      </p:sp>
      <p:sp>
        <p:nvSpPr>
          <p:cNvPr id="11" name="Text 7"/>
          <p:cNvSpPr/>
          <p:nvPr/>
        </p:nvSpPr>
        <p:spPr>
          <a:xfrm>
            <a:off x="365760" y="530352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OPD Card saves patient data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-&gt; extracted = false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3749040" y="5486400"/>
            <a:ext cx="320040" cy="320040"/>
          </a:xfrm>
          <a:prstGeom prst="rightArrow">
            <a:avLst/>
          </a:prstGeom>
          <a:solidFill>
            <a:srgbClr val="10B981"/>
          </a:solidFill>
          <a:ln/>
        </p:spPr>
      </p:sp>
      <p:sp>
        <p:nvSpPr>
          <p:cNvPr id="13" name="Shape 9"/>
          <p:cNvSpPr/>
          <p:nvPr/>
        </p:nvSpPr>
        <p:spPr>
          <a:xfrm>
            <a:off x="4206240" y="5303520"/>
            <a:ext cx="3474720" cy="7315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FDE68A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4206240" y="530352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4530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Auto-Sync extracts (10s)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B4530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-&gt; Dispense Queue populated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7863840" y="5486400"/>
            <a:ext cx="320040" cy="320040"/>
          </a:xfrm>
          <a:prstGeom prst="rightArrow">
            <a:avLst/>
          </a:prstGeom>
          <a:solidFill>
            <a:srgbClr val="10B981"/>
          </a:solidFill>
          <a:ln/>
        </p:spPr>
      </p:sp>
      <p:sp>
        <p:nvSpPr>
          <p:cNvPr id="16" name="Shape 12"/>
          <p:cNvSpPr/>
          <p:nvPr/>
        </p:nvSpPr>
        <p:spPr>
          <a:xfrm>
            <a:off x="8229600" y="5303520"/>
            <a:ext cx="3474720" cy="731520"/>
          </a:xfrm>
          <a:prstGeom prst="roundRect">
            <a:avLst/>
          </a:prstGeom>
          <a:solidFill>
            <a:srgbClr val="D1FAE5"/>
          </a:solidFill>
          <a:ln w="19050">
            <a:solidFill>
              <a:srgbClr val="A7F3D0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8229600" y="530352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4E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Pharmacist sees pending items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64E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-&gt; Status: Pending/Pushed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79504" y="65151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8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SCREEN: OPD DAILY TALLY &amp; DISPENSE QUEUE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548640" y="841248"/>
            <a:ext cx="1106424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Shape 2"/>
          <p:cNvSpPr/>
          <p:nvPr/>
        </p:nvSpPr>
        <p:spPr>
          <a:xfrm>
            <a:off x="338328" y="1069848"/>
            <a:ext cx="5541264" cy="314553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pic>
        <p:nvPicPr>
          <p:cNvPr id="5" name="Image 0" descr="C:\Users\ashwi\Videos\movies\JSPulse Occupational Health Management System - ASHWINI KUMAR\screenshots\op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097280"/>
            <a:ext cx="5486400" cy="309067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4261104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Daily OPD Tally - 30+ column patient register (ExcelGrid)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6190488" y="1069848"/>
            <a:ext cx="5541264" cy="314553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pic>
        <p:nvPicPr>
          <p:cNvPr id="8" name="Image 1" descr="C:\Users\ashwi\Videos\movies\JSPulse Occupational Health Management System - ASHWINI KUMAR\screenshots\dispens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097280"/>
            <a:ext cx="5486400" cy="309067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217920" y="4261104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Dispense Medicine Queue - Auto-extracted prescriptions</a:t>
            </a:r>
            <a:endParaRPr lang="en-US" sz="900" dirty="0"/>
          </a:p>
        </p:txBody>
      </p:sp>
      <p:sp>
        <p:nvSpPr>
          <p:cNvPr id="10" name="Shape 6"/>
          <p:cNvSpPr/>
          <p:nvPr/>
        </p:nvSpPr>
        <p:spPr>
          <a:xfrm>
            <a:off x="5760720" y="2286000"/>
            <a:ext cx="548640" cy="548640"/>
          </a:xfrm>
          <a:prstGeom prst="rightArrow">
            <a:avLst/>
          </a:prstGeom>
          <a:solidFill>
            <a:srgbClr val="10B981"/>
          </a:solidFill>
          <a:ln/>
        </p:spPr>
      </p:sp>
      <p:sp>
        <p:nvSpPr>
          <p:cNvPr id="11" name="Text 7"/>
          <p:cNvSpPr/>
          <p:nvPr/>
        </p:nvSpPr>
        <p:spPr>
          <a:xfrm>
            <a:off x="5715000" y="292608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Auto-Sync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sec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365760" y="4572000"/>
            <a:ext cx="11430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OPD Tally records every patient visit with 30+ columns (demographics, vitals, diagnosis, treatment). The Dispense Queue auto-extracts pending prescriptions every 10 seconds using the "extracted" boolean flag. Each prescription is extracted exactly once - re-editing an OPD card resets the flag for re-sync.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365760" y="55778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Fields Transferred: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2926080" y="557784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Patient Name, Gender, Age, Emp ID, Company, Department, Diagnosis, Medicines, Qty, Dosage, Dr. Name, Charges, Date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79504" y="65151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8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SCREEN: CONSUMPTION GRID &amp; DAILY STOCK DEDUCTION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548640" y="841248"/>
            <a:ext cx="1106424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Shape 2"/>
          <p:cNvSpPr/>
          <p:nvPr/>
        </p:nvSpPr>
        <p:spPr>
          <a:xfrm>
            <a:off x="338328" y="1069848"/>
            <a:ext cx="5541264" cy="314553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pic>
        <p:nvPicPr>
          <p:cNvPr id="5" name="Image 0" descr="C:\Users\ashwi\Videos\movies\JSPulse Occupational Health Management System - ASHWINI KUMAR\screenshots\medconsu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097280"/>
            <a:ext cx="5486400" cy="309067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4261104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Medicine Consumption Grid - 31-day x 7-section x 4-shift matrix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6190488" y="1069848"/>
            <a:ext cx="5541264" cy="314553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pic>
        <p:nvPicPr>
          <p:cNvPr id="8" name="Image 1" descr="C:\Users\ashwi\Videos\movies\JSPulse Occupational Health Management System - ASHWINI KUMAR\screenshots\shif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097280"/>
            <a:ext cx="5486400" cy="309067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217920" y="4261104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Daily Consume - Auto stock deduction &amp; balance update</a:t>
            </a:r>
            <a:endParaRPr lang="en-US" sz="900" dirty="0"/>
          </a:p>
        </p:txBody>
      </p:sp>
      <p:sp>
        <p:nvSpPr>
          <p:cNvPr id="10" name="Shape 6"/>
          <p:cNvSpPr/>
          <p:nvPr/>
        </p:nvSpPr>
        <p:spPr>
          <a:xfrm>
            <a:off x="5760720" y="2286000"/>
            <a:ext cx="548640" cy="548640"/>
          </a:xfrm>
          <a:prstGeom prst="rightArrow">
            <a:avLst/>
          </a:prstGeom>
          <a:solidFill>
            <a:srgbClr val="EF4444"/>
          </a:solidFill>
          <a:ln/>
        </p:spPr>
      </p:sp>
      <p:sp>
        <p:nvSpPr>
          <p:cNvPr id="11" name="Text 7"/>
          <p:cNvSpPr/>
          <p:nvPr/>
        </p:nvSpPr>
        <p:spPr>
          <a:xfrm>
            <a:off x="5715000" y="292608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F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Deduct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EF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 sec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365760" y="45720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Section Classification: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365760" y="49377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OHC Counter: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1737360" y="49377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Default prescriptions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365760" y="5257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Dressing/Casualty: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1737360" y="52578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"dress", "wound", "burn"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365760" y="55778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Life Saving: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1737360" y="55778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"emergency", "critical"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365760" y="58978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First Aid: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1737360" y="58978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"first aid", "minor"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4480560" y="49377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Physiotherapy: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5852160" y="49377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"physio", "therapy"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4480560" y="5257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PME: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5852160" y="52578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"checkup", "periodic"</a:t>
            </a:r>
            <a:endParaRPr lang="en-US" sz="900" dirty="0"/>
          </a:p>
        </p:txBody>
      </p:sp>
      <p:sp>
        <p:nvSpPr>
          <p:cNvPr id="25" name="Text 21"/>
          <p:cNvSpPr/>
          <p:nvPr/>
        </p:nvSpPr>
        <p:spPr>
          <a:xfrm>
            <a:off x="4480560" y="55778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Expiry/Waste: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5852160" y="55778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"expired", "waste"</a:t>
            </a:r>
            <a:endParaRPr lang="en-US" sz="900" dirty="0"/>
          </a:p>
        </p:txBody>
      </p:sp>
      <p:sp>
        <p:nvSpPr>
          <p:cNvPr id="27" name="Text 23"/>
          <p:cNvSpPr/>
          <p:nvPr/>
        </p:nvSpPr>
        <p:spPr>
          <a:xfrm>
            <a:off x="8229600" y="45720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Shift Detection:</a:t>
            </a:r>
            <a:endParaRPr lang="en-US" sz="1100" dirty="0"/>
          </a:p>
        </p:txBody>
      </p:sp>
      <p:sp>
        <p:nvSpPr>
          <p:cNvPr id="28" name="Text 24"/>
          <p:cNvSpPr/>
          <p:nvPr/>
        </p:nvSpPr>
        <p:spPr>
          <a:xfrm>
            <a:off x="8229600" y="493776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A: 06:00-14:00  |  B: 14:00-22:00</a:t>
            </a:r>
            <a:endParaRPr lang="en-US" sz="10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C: 22:00-06:00  |  General: Default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79504" y="65151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8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SCREEN: MONTHLY BALANCE LEDGER &amp; STOCK REGISTER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548640" y="841248"/>
            <a:ext cx="1106424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Shape 2"/>
          <p:cNvSpPr/>
          <p:nvPr/>
        </p:nvSpPr>
        <p:spPr>
          <a:xfrm>
            <a:off x="338328" y="1069848"/>
            <a:ext cx="5541264" cy="314553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pic>
        <p:nvPicPr>
          <p:cNvPr id="5" name="Image 0" descr="C:\Users\ashwi\Videos\movies\JSPulse Occupational Health Management System - ASHWINI KUMAR\screenshots\monthlybala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097280"/>
            <a:ext cx="5486400" cy="309067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4261104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Monthly Balance - 12-month incoming/outgoing/balance per medicine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6190488" y="1069848"/>
            <a:ext cx="5541264" cy="314553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pic>
        <p:nvPicPr>
          <p:cNvPr id="8" name="Image 1" descr="C:\Users\ashwi\Videos\movies\JSPulse Occupational Health Management System - ASHWINI KUMAR\screenshots\inventor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097280"/>
            <a:ext cx="5486400" cy="309067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217920" y="4261104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Medicine Stock Register - Inventory, batch, expiry tracking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365760" y="4572000"/>
            <a:ext cx="5486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Monthly Balance Ledger tracks every medicine across 12 months with: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Initial Balance + Monthly Incoming + Monthly Outgoing = Running Balance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Auto-calculated from Daily Consume deductions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Yearly grand totals computed automatically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6217920" y="4572000"/>
            <a:ext cx="5486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Stock Register provides real-time inventory with: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Medicine Name, Batch No, Manufacturer, Category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Quantity, Unit, Purchase Price, MRP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Expiry Date + Auto-Status (Active/Near-Expiry/Expired)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Color-coded expiry alerts (Green/Yellow/Red)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79504" y="65151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8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SCREEN: MONTHLY MIS REPORT &amp; ANALYTICS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548640" y="841248"/>
            <a:ext cx="11064240" cy="36576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4" name="Image 0" descr="C:\Users\ashwi\Videos\movies\JSPulse Occupational Health Management System - ASHWINI KUMAR\src\assets\app-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9920" y="137160"/>
            <a:ext cx="594360" cy="5943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38328" y="1069848"/>
            <a:ext cx="7370064" cy="416966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pic>
        <p:nvPicPr>
          <p:cNvPr id="6" name="Image 1" descr="C:\Users\ashwi\Videos\movies\JSPulse Occupational Health Management System - ASHWINI KUMAR\screenshots\mi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7315200" cy="41148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65760" y="528523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 Report - Auto-aggregated statistics, charts, and compliance data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8046720" y="10972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Auto-Aggregates from 8+ Sources: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8046720" y="1554480"/>
            <a:ext cx="3474720" cy="347472"/>
          </a:xfrm>
          <a:prstGeom prst="roundRect">
            <a:avLst/>
          </a:prstGeom>
          <a:solidFill>
            <a:srgbClr val="E0F2FE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8138160" y="155448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Daily OPD Sheets</a:t>
            </a:r>
            <a:endParaRPr lang="en-US" sz="950" dirty="0"/>
          </a:p>
        </p:txBody>
      </p:sp>
      <p:sp>
        <p:nvSpPr>
          <p:cNvPr id="11" name="Shape 7"/>
          <p:cNvSpPr/>
          <p:nvPr/>
        </p:nvSpPr>
        <p:spPr>
          <a:xfrm>
            <a:off x="8046720" y="1965960"/>
            <a:ext cx="3474720" cy="347472"/>
          </a:xfrm>
          <a:prstGeom prst="roundRect">
            <a:avLst/>
          </a:prstGeom>
          <a:solidFill>
            <a:srgbClr val="D1FAE5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8138160" y="196596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64E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Medicine Stock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8046720" y="2377440"/>
            <a:ext cx="3474720" cy="347472"/>
          </a:xfrm>
          <a:prstGeom prst="roundRect">
            <a:avLst/>
          </a:prstGeom>
          <a:solidFill>
            <a:srgbClr val="F0FDF4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8138160" y="237744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453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Monthly Consume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8046720" y="2788920"/>
            <a:ext cx="3474720" cy="347472"/>
          </a:xfrm>
          <a:prstGeom prst="roundRect">
            <a:avLst/>
          </a:prstGeom>
          <a:solidFill>
            <a:srgbClr val="FFFBEB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8138160" y="278892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835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Medicine Incoming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8046720" y="3200400"/>
            <a:ext cx="3474720" cy="347472"/>
          </a:xfrm>
          <a:prstGeom prst="roundRect">
            <a:avLst/>
          </a:prstGeom>
          <a:solidFill>
            <a:srgbClr val="FEF2F2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8138160" y="320040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F1D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Injury Reports</a:t>
            </a:r>
            <a:endParaRPr lang="en-US" sz="950" dirty="0"/>
          </a:p>
        </p:txBody>
      </p:sp>
      <p:sp>
        <p:nvSpPr>
          <p:cNvPr id="19" name="Shape 15"/>
          <p:cNvSpPr/>
          <p:nvPr/>
        </p:nvSpPr>
        <p:spPr>
          <a:xfrm>
            <a:off x="8046720" y="3611880"/>
            <a:ext cx="3474720" cy="347472"/>
          </a:xfrm>
          <a:prstGeom prst="roundRect">
            <a:avLst/>
          </a:prstGeom>
          <a:solidFill>
            <a:srgbClr val="FEF2F2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8138160" y="361188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F1D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Ambulance Dispatch</a:t>
            </a:r>
            <a:endParaRPr lang="en-US" sz="950" dirty="0"/>
          </a:p>
        </p:txBody>
      </p:sp>
      <p:sp>
        <p:nvSpPr>
          <p:cNvPr id="21" name="Shape 17"/>
          <p:cNvSpPr/>
          <p:nvPr/>
        </p:nvSpPr>
        <p:spPr>
          <a:xfrm>
            <a:off x="8046720" y="4023360"/>
            <a:ext cx="3474720" cy="347472"/>
          </a:xfrm>
          <a:prstGeom prst="roundRect">
            <a:avLst/>
          </a:prstGeom>
          <a:solidFill>
            <a:srgbClr val="FEF3C7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8138160" y="402336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4530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BMW Waste Logs</a:t>
            </a:r>
            <a:endParaRPr lang="en-US" sz="950" dirty="0"/>
          </a:p>
        </p:txBody>
      </p:sp>
      <p:sp>
        <p:nvSpPr>
          <p:cNvPr id="23" name="Shape 19"/>
          <p:cNvSpPr/>
          <p:nvPr/>
        </p:nvSpPr>
        <p:spPr>
          <a:xfrm>
            <a:off x="8046720" y="4434840"/>
            <a:ext cx="3474720" cy="347472"/>
          </a:xfrm>
          <a:prstGeom prst="roundRect">
            <a:avLst/>
          </a:prstGeom>
          <a:solidFill>
            <a:srgbClr val="E0F2FE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8138160" y="443484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Health Certificates</a:t>
            </a:r>
            <a:endParaRPr lang="en-US" sz="950" dirty="0"/>
          </a:p>
        </p:txBody>
      </p:sp>
      <p:sp>
        <p:nvSpPr>
          <p:cNvPr id="25" name="Text 21"/>
          <p:cNvSpPr/>
          <p:nvPr/>
        </p:nvSpPr>
        <p:spPr>
          <a:xfrm>
            <a:off x="8046720" y="4937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Outputs:</a:t>
            </a:r>
            <a:endParaRPr lang="en-US" sz="1100" dirty="0"/>
          </a:p>
        </p:txBody>
      </p:sp>
      <p:sp>
        <p:nvSpPr>
          <p:cNvPr id="26" name="Text 22"/>
          <p:cNvSpPr/>
          <p:nvPr/>
        </p:nvSpPr>
        <p:spPr>
          <a:xfrm>
            <a:off x="8046720" y="521208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Bar Charts (Dept visits, 7-day trends)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Trend Analysis (Month-over-month %)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CSV / PDF Export (One-click compliance)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Auto Observations (AI-generated text)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79504" y="65151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8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SCREEN: CLINICAL RECORDS &amp; SYSTEM HEALTH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548640" y="841248"/>
            <a:ext cx="1106424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Shape 2"/>
          <p:cNvSpPr/>
          <p:nvPr/>
        </p:nvSpPr>
        <p:spPr>
          <a:xfrm>
            <a:off x="338328" y="1069848"/>
            <a:ext cx="5541264" cy="314553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pic>
        <p:nvPicPr>
          <p:cNvPr id="5" name="Image 0" descr="C:\Users\ashwi\Videos\movies\JSPulse Occupational Health Management System - ASHWINI KUMAR\screenshots\clinic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097280"/>
            <a:ext cx="5486400" cy="309067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4261104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Clinical Records - 9 tabbed sub-modules for compliance registers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6190488" y="1069848"/>
            <a:ext cx="5541264" cy="314553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pic>
        <p:nvPicPr>
          <p:cNvPr id="8" name="Image 1" descr="C:\Users\ashwi\Videos\movies\JSPulse Occupational Health Management System - ASHWINI KUMAR\screenshots\systemhealt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097280"/>
            <a:ext cx="5486400" cy="309067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217920" y="4261104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System Health Tool - Storage diagnostics &amp; data flow visualization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365760" y="45720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Clinical Records hosts 9 compliance registers: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365760" y="489204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Injury Reports | Vital Signs | Employee Health | Annual Checkup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Occ. Disease | Emergency Ambulance | First Aid Box | Patient Visits | Health Certificates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6217920" y="45720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System Health provides: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6217920" y="4892040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Storage quota monitoring (70%/90% alerts)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Data flow visualization diagrams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IDB to localStorage migration tools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Cleanup &amp; optimization utilities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79504" y="65151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8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SPREADSHEET ENGINE: FORMULAS &amp; DYNAMIC TOTALS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548640" y="841248"/>
            <a:ext cx="11064240" cy="36576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4" name="Image 0" descr="C:\Users\ashwi\Videos\movies\JSPulse Occupational Health Management System - ASHWINI KUMAR\src\assets\app-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9920" y="137160"/>
            <a:ext cx="594360" cy="5943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38328" y="1069848"/>
            <a:ext cx="6912864" cy="391363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pic>
        <p:nvPicPr>
          <p:cNvPr id="6" name="Image 1" descr="C:\Users\ashwi\Videos\movies\JSPulse Occupational Health Management System - ASHWINI KUMAR\screenshots\op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6858000" cy="385876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65760" y="502920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OPD Register - ExcelGrid spreadsheet featuring formula totals and cell resizing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7498080" y="10972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Virtual Grid Features: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7498080" y="1463040"/>
            <a:ext cx="41148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Custom Formula Engine: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Evaluates cell formulas dynamically on change (e.g., =SUM(A1:B20), =A1+B2) with circular reference protection.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Real-time Calculations: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Auto-computes sums, average values, counts, and other metrics instantly across columns/ranges.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Smooth Virtual Scroll: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Renders only cells within the viewport, maintaining 60fps interaction speeds with 10,000+ data rows.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Complete Formatting Tools: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Supports inline cell edit, undo/redo, text style (bold, italic, underline), alignments, and column resize.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79504" y="65151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8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COMPLIANCE EXPORTS: EXCEL (.XLSX) &amp; PDF PRINTING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548640" y="841248"/>
            <a:ext cx="11064240" cy="36576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4" name="Image 0" descr="C:\Users\ashwi\Videos\movies\JSPulse Occupational Health Management System - ASHWINI KUMAR\src\assets\app-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9920" y="137160"/>
            <a:ext cx="594360" cy="5943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38328" y="1069848"/>
            <a:ext cx="6912864" cy="391363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pic>
        <p:nvPicPr>
          <p:cNvPr id="6" name="Image 1" descr="C:\Users\ashwi\Videos\movies\JSPulse Occupational Health Management System - ASHWINI KUMAR\screenshots\mi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6858000" cy="385876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65760" y="502920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 Report - Instant export actions to generate Excel and PDF formats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7498080" y="10972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Export &amp; Printing Capabilities: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7498080" y="1463040"/>
            <a:ext cx="41148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Binary Excel Export: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Compiles grid matrices directly into standard Excel binary streams utilizing the SheetJS (xlsx) library.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Headless PDF Print Bridge: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Intercepts print actions and routes them to Electron native printToPDF engine to save clean, margin-adjusted local PDFs.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Audit-Ready Compliance formats: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Standardizes all exports to match mandatory Factories Act, 1948 schedules for inspectors.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Print-Optimized Slips: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Renders specialized printable sheets (like OPD prescription slips) with embedded corporate logos.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79504" y="65151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8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DATA SECURITY: OFFLINE BACKUP &amp; RESTORE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548640" y="841248"/>
            <a:ext cx="11064240" cy="36576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4" name="Image 0" descr="C:\Users\ashwi\Videos\movies\JSPulse Occupational Health Management System - ASHWINI KUMAR\src\assets\app-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9920" y="137160"/>
            <a:ext cx="594360" cy="5943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38328" y="1069848"/>
            <a:ext cx="6912864" cy="391363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pic>
        <p:nvPicPr>
          <p:cNvPr id="6" name="Image 1" descr="C:\Users\ashwi\Videos\movies\JSPulse Occupational Health Management System - ASHWINI KUMAR\screenshots\backu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6858000" cy="385876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65760" y="502920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Backup &amp; Restore View - Single-file import and export operations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7498080" y="10972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 Protection: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7498080" y="1463040"/>
            <a:ext cx="41148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Complete Database Dump: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Compresses and exports all 20+ IndexedDB and localStorage sheets into a single structured JSON file.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Safe Import Validator: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Checks column headers, metadata, and auto-increment keys before restoring data to prevent corruption.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Auto-Backup Safeguards: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Automatically saves DB snapshots in browser-isolated IndexedDB pools to safeguard against administrative errors.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Seamless Database Migration: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Allows easy backup transfers of entire inventories and clinical history between clinical PCs offline.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79504" y="65151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8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SYSTEM ARCHITECTURE: ELECTRON + REACT + INDEXEDDB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548640" y="841248"/>
            <a:ext cx="11064240" cy="36576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4" name="Image 0" descr="C:\Users\ashwi\Videos\movies\JSPulse Occupational Health Management System - ASHWINI KUMAR\src\assets\app-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9920" y="137160"/>
            <a:ext cx="59436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91440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user data flows securely from the clinical screen to the local database offline: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57200" y="1463040"/>
            <a:ext cx="2286000" cy="457200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BFDBF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8640" y="15544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 USER INTERFACE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React 19 &amp; Vite 8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48640" y="1920240"/>
            <a:ext cx="210312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OPD Form &amp; Grid: Captures vitals entry, patient details, and printer commands.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Keystroke Engine: Binds keyboard shortcuts for quick cell navigation.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Live Analytics: Local state updates the Dashboard &amp; KPI counters instantly.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880360" y="3520440"/>
            <a:ext cx="320040" cy="320040"/>
          </a:xfrm>
          <a:prstGeom prst="rightArrow">
            <a:avLst/>
          </a:prstGeom>
          <a:solidFill>
            <a:srgbClr val="3B82F6"/>
          </a:solidFill>
          <a:ln/>
        </p:spPr>
      </p:sp>
      <p:sp>
        <p:nvSpPr>
          <p:cNvPr id="10" name="Shape 7"/>
          <p:cNvSpPr/>
          <p:nvPr/>
        </p:nvSpPr>
        <p:spPr>
          <a:xfrm>
            <a:off x="3337560" y="1463040"/>
            <a:ext cx="2286000" cy="45720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FDE68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429000" y="15544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 SECURITY BRIDGE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Preload IPC Bridge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3429000" y="1920240"/>
            <a:ext cx="210312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Context Isolation: Blocks direct renderer access to Node.js for security.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API Gatekeeper: Sanitizes and translates front-end UI data requests.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IPC Channels: Safely routes messages between UI and Native desktop processes.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5760720" y="3520440"/>
            <a:ext cx="320040" cy="320040"/>
          </a:xfrm>
          <a:prstGeom prst="rightArrow">
            <a:avLst/>
          </a:prstGeom>
          <a:solidFill>
            <a:srgbClr val="3B82F6"/>
          </a:solidFill>
          <a:ln/>
        </p:spPr>
      </p:sp>
      <p:sp>
        <p:nvSpPr>
          <p:cNvPr id="14" name="Shape 11"/>
          <p:cNvSpPr/>
          <p:nvPr/>
        </p:nvSpPr>
        <p:spPr>
          <a:xfrm>
            <a:off x="6217920" y="1463040"/>
            <a:ext cx="2286000" cy="4572000"/>
          </a:xfrm>
          <a:prstGeom prst="roundRect">
            <a:avLst/>
          </a:prstGeom>
          <a:solidFill>
            <a:srgbClr val="E2E8F0"/>
          </a:solidFill>
          <a:ln w="1905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309360" y="15544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 DESKTOP MAIN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Electron Process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309360" y="1920240"/>
            <a:ext cx="210312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Window Controller: Manages desktop windows, menus, and taskbar icons.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Native Integrations: Triggers OS file dialogs (Save/Open) and print-to-PDF.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Update Engine: Check auto-update flags and NSIS installer configs.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8641080" y="3520440"/>
            <a:ext cx="320040" cy="320040"/>
          </a:xfrm>
          <a:prstGeom prst="rightArrow">
            <a:avLst/>
          </a:prstGeom>
          <a:solidFill>
            <a:srgbClr val="3B82F6"/>
          </a:solidFill>
          <a:ln/>
        </p:spPr>
      </p:sp>
      <p:sp>
        <p:nvSpPr>
          <p:cNvPr id="18" name="Shape 15"/>
          <p:cNvSpPr/>
          <p:nvPr/>
        </p:nvSpPr>
        <p:spPr>
          <a:xfrm>
            <a:off x="9098280" y="1463040"/>
            <a:ext cx="2560320" cy="457200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A7F3D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189720" y="1554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53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 OFFLINE STORAGE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453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IndexedDB &amp; Disk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9189720" y="1920240"/>
            <a:ext cx="237744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sheetDB.js: Saves logs locally in browser-native IndexedDB database.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Native fs System: Auto-saves data backup JSON files directly onto disk.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Quota Bypass: Easily bypasses 5MB limits to store 100,000+ clinical logs.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79504" y="65151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8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PROGRAMMING LANGUAGES &amp; DATA FORMATS USED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548640" y="841248"/>
            <a:ext cx="11064240" cy="36576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4" name="Image 0" descr="C:\Users\ashwi\Videos\movies\JSPulse Occupational Health Management System - ASHWINI KUMAR\src\assets\app-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9920" y="137160"/>
            <a:ext cx="594360" cy="5943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65760" y="1280160"/>
            <a:ext cx="5486400" cy="128016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02920" y="132588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JavaScript (ES6+)  |  Primary Programming Language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02920" y="1691640"/>
            <a:ext cx="5212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Used for Electron main process backend, preload script bridges, IndexedDB wrapper connection pools, automatic date parsing, and CSV/PDF export engines.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6126480" y="1280160"/>
            <a:ext cx="5486400" cy="128016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263640" y="132588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JSX (React Syntax Extension)  |  Component UI Declarative Language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263640" y="1691640"/>
            <a:ext cx="5212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Defines the UI structure, reactive states, and DOM lifecycle operations across all 35 custom components, including the ExcelGrid spreadsheet and Dashboard panels.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365760" y="2834640"/>
            <a:ext cx="5486400" cy="128016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2920" y="288036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HTML5  |  Web Document Markup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02920" y="3246120"/>
            <a:ext cx="5212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Provides the application index document skeleton, links script assets, and handles native SVG vector graphics rendering (such as vector clinic logos).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6126480" y="2834640"/>
            <a:ext cx="5486400" cy="128016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63640" y="288036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53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CSS3 (Vanilla CSS)  |  Component Cascading Styles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263640" y="3246120"/>
            <a:ext cx="5212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Powers the complete layout design system, color themes, responsive layouts, active cell borders, sidebar hover effects, and printer output CSS rules.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365760" y="4389120"/>
            <a:ext cx="5486400" cy="1280160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02920" y="443484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835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JSON  |  Configuration &amp; Data Structures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502920" y="4800600"/>
            <a:ext cx="5212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Used for application dependencies, build scripts, packaging configurations (package.json), local settings data caches, and backup exports.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6126480" y="4389120"/>
            <a:ext cx="5486400" cy="1280160"/>
          </a:xfrm>
          <a:prstGeom prst="roundRect">
            <a:avLst/>
          </a:prstGeom>
          <a:solidFill>
            <a:srgbClr val="FFF1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263640" y="443484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F12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IndexedDB API / NoSQL queries  |  Local Database Manipulation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6263640" y="4800600"/>
            <a:ext cx="5212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 sheetDB.js connection pool schemas used for client-side logging, updating medicine stock registers, and aggregating MIS tables offline.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79504" y="65151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8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12 HEALTH &amp; SAFETY COMPLIANCE REGISTERS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548640" y="841248"/>
            <a:ext cx="11064240" cy="36576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4" name="Image 0" descr="C:\Users\ashwi\Videos\movies\JSPulse Occupational Health Management System - ASHWINI KUMAR\build\jindal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0" y="137160"/>
            <a:ext cx="1828800" cy="7315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10058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JSPulse OHMS digitizes every mandatory clinical register required under the Factories Act, 1948: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365760" y="1554480"/>
            <a:ext cx="356616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160020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[OPD]  Daily OPD Tally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192024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Patient vitals, diagnosis, treatment per day.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4160520" y="1554480"/>
            <a:ext cx="356616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251960" y="160020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[RX]  Pharmacy Dispensing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251960" y="192024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Auto-synced prescription queue.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7955280" y="1554480"/>
            <a:ext cx="356616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046720" y="160020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[STK]  Medicine Stock Register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046720" y="192024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Inventory, batch, expiry alerts.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365760" y="2651760"/>
            <a:ext cx="356616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57200" y="269748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[QTY]  Daily Consumption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57200" y="301752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31-day x 7-section x 4-shift grids.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4160520" y="2651760"/>
            <a:ext cx="356616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251960" y="269748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[BAL]  Monthly Balance Ledger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4251960" y="301752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12-month running balance tracking.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7955280" y="2651760"/>
            <a:ext cx="356616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046720" y="269748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[PME]  Annual Health Checkups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8046720" y="301752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PME records: vision, lung, audio.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365760" y="3749040"/>
            <a:ext cx="356616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57200" y="379476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[INJ]  Injury Report Logs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457200" y="411480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Incidents with department &amp; nature.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4160520" y="3749040"/>
            <a:ext cx="356616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251960" y="379476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[AMB]  Ambulance Dispatch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4251960" y="411480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Emergency callout timestamps.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7955280" y="3749040"/>
            <a:ext cx="356616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8046720" y="379476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[OCC]  Occupational Disease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8046720" y="411480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Disease tracking &amp; health records.</a:t>
            </a:r>
            <a:endParaRPr lang="en-US" sz="950" dirty="0"/>
          </a:p>
        </p:txBody>
      </p:sp>
      <p:sp>
        <p:nvSpPr>
          <p:cNvPr id="33" name="Shape 30"/>
          <p:cNvSpPr/>
          <p:nvPr/>
        </p:nvSpPr>
        <p:spPr>
          <a:xfrm>
            <a:off x="365760" y="4846320"/>
            <a:ext cx="356616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457200" y="489204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[BOX]  First Aid Box Tracker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457200" y="521208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Emergency kit audits.</a:t>
            </a:r>
            <a:endParaRPr lang="en-US" sz="950" dirty="0"/>
          </a:p>
        </p:txBody>
      </p:sp>
      <p:sp>
        <p:nvSpPr>
          <p:cNvPr id="36" name="Shape 33"/>
          <p:cNvSpPr/>
          <p:nvPr/>
        </p:nvSpPr>
        <p:spPr>
          <a:xfrm>
            <a:off x="4160520" y="4846320"/>
            <a:ext cx="356616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4251960" y="489204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[CRT]  Health Certificates</a:t>
            </a:r>
            <a:endParaRPr lang="en-US" sz="1100" dirty="0"/>
          </a:p>
        </p:txBody>
      </p:sp>
      <p:sp>
        <p:nvSpPr>
          <p:cNvPr id="38" name="Text 35"/>
          <p:cNvSpPr/>
          <p:nvPr/>
        </p:nvSpPr>
        <p:spPr>
          <a:xfrm>
            <a:off x="4251960" y="521208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Certification expiry &amp; renewal.</a:t>
            </a:r>
            <a:endParaRPr lang="en-US" sz="950" dirty="0"/>
          </a:p>
        </p:txBody>
      </p:sp>
      <p:sp>
        <p:nvSpPr>
          <p:cNvPr id="39" name="Shape 36"/>
          <p:cNvSpPr/>
          <p:nvPr/>
        </p:nvSpPr>
        <p:spPr>
          <a:xfrm>
            <a:off x="7955280" y="4846320"/>
            <a:ext cx="356616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8046720" y="489204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[WST]  Biomedical Waste Log</a:t>
            </a:r>
            <a:endParaRPr lang="en-US" sz="1100" dirty="0"/>
          </a:p>
        </p:txBody>
      </p:sp>
      <p:sp>
        <p:nvSpPr>
          <p:cNvPr id="41" name="Text 38"/>
          <p:cNvSpPr/>
          <p:nvPr/>
        </p:nvSpPr>
        <p:spPr>
          <a:xfrm>
            <a:off x="8046720" y="521208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BMW segregation (Y/R/B bags).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79504" y="65151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8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AUTOMATION ENGINE: BACKGROUND SYNC INTERVALS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548640" y="841248"/>
            <a:ext cx="1106424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JSPulse runs 6 independent background timer threads creating a chain-reaction automation pipeline:</a:t>
            </a:r>
            <a:endParaRPr lang="en-US" sz="12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3200400"/>
        </p:xfrm>
        <a:graphic>
          <a:graphicData uri="http://schemas.openxmlformats.org/drawingml/2006/table">
            <a:tbl>
              <a:tblPr/>
              <a:tblGrid>
                <a:gridCol w="2286000"/>
                <a:gridCol w="1005840"/>
                <a:gridCol w="3840480"/>
                <a:gridCol w="393192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Module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Interval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Action Performed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Data Source -&gt; Target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OPD Counter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10 sec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Reload today's patient count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cms_daily_opd_sheet -&gt; Display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Dispense Medicine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10 sec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Extract new prescriptions from OPD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cms_daily_opd_sheet -&gt; cms_dispense_log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Daily Consume (Extract)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10 sec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Pull pending items from Dispense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cms_dispense_log -&gt; cms_monthly_consume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Daily Consume (Deduct)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15 sec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Deduct from Stock + update Balance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cms_monthly_consume -&gt; Stock + Balance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Daily Consume (Pending)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 sec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Check for pending deduction items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Internal state check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Dashboard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30 sec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Reload all KPI metrics and alerts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All stores -&gt; Dashboard display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4846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Timeline (Per 30-Second Window):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57200" y="5303520"/>
            <a:ext cx="11247120" cy="73152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8" name="Shape 5"/>
          <p:cNvSpPr/>
          <p:nvPr/>
        </p:nvSpPr>
        <p:spPr>
          <a:xfrm>
            <a:off x="457200" y="5212080"/>
            <a:ext cx="18288" cy="22860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9" name="Text 6"/>
          <p:cNvSpPr/>
          <p:nvPr/>
        </p:nvSpPr>
        <p:spPr>
          <a:xfrm>
            <a:off x="320040" y="544068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0s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2331720" y="5212080"/>
            <a:ext cx="18288" cy="22860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11" name="Text 8"/>
          <p:cNvSpPr/>
          <p:nvPr/>
        </p:nvSpPr>
        <p:spPr>
          <a:xfrm>
            <a:off x="2194560" y="544068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5s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4206240" y="5212080"/>
            <a:ext cx="18288" cy="22860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13" name="Text 10"/>
          <p:cNvSpPr/>
          <p:nvPr/>
        </p:nvSpPr>
        <p:spPr>
          <a:xfrm>
            <a:off x="4069080" y="544068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10s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6080760" y="5212080"/>
            <a:ext cx="18288" cy="22860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15" name="Text 12"/>
          <p:cNvSpPr/>
          <p:nvPr/>
        </p:nvSpPr>
        <p:spPr>
          <a:xfrm>
            <a:off x="5943600" y="544068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15s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7955280" y="5212080"/>
            <a:ext cx="18288" cy="22860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17" name="Text 14"/>
          <p:cNvSpPr/>
          <p:nvPr/>
        </p:nvSpPr>
        <p:spPr>
          <a:xfrm>
            <a:off x="7818120" y="544068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20s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9829800" y="5212080"/>
            <a:ext cx="18288" cy="22860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19" name="Text 16"/>
          <p:cNvSpPr/>
          <p:nvPr/>
        </p:nvSpPr>
        <p:spPr>
          <a:xfrm>
            <a:off x="9692640" y="544068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25s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11704320" y="5212080"/>
            <a:ext cx="18288" cy="22860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21" name="Text 18"/>
          <p:cNvSpPr/>
          <p:nvPr/>
        </p:nvSpPr>
        <p:spPr>
          <a:xfrm>
            <a:off x="11567160" y="544068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30s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402336" y="5248656"/>
            <a:ext cx="137160" cy="13716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3" name="Shape 20"/>
          <p:cNvSpPr/>
          <p:nvPr/>
        </p:nvSpPr>
        <p:spPr>
          <a:xfrm>
            <a:off x="4151376" y="5248656"/>
            <a:ext cx="137160" cy="13716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4" name="Shape 21"/>
          <p:cNvSpPr/>
          <p:nvPr/>
        </p:nvSpPr>
        <p:spPr>
          <a:xfrm>
            <a:off x="7900416" y="5248656"/>
            <a:ext cx="137160" cy="13716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5" name="Shape 22"/>
          <p:cNvSpPr/>
          <p:nvPr/>
        </p:nvSpPr>
        <p:spPr>
          <a:xfrm>
            <a:off x="6025896" y="5248656"/>
            <a:ext cx="137160" cy="13716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6" name="Shape 23"/>
          <p:cNvSpPr/>
          <p:nvPr/>
        </p:nvSpPr>
        <p:spPr>
          <a:xfrm>
            <a:off x="11283696" y="5248656"/>
            <a:ext cx="137160" cy="13716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7" name="Shape 24"/>
          <p:cNvSpPr/>
          <p:nvPr/>
        </p:nvSpPr>
        <p:spPr>
          <a:xfrm>
            <a:off x="457200" y="5760720"/>
            <a:ext cx="137160" cy="13716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8" name="Text 25"/>
          <p:cNvSpPr/>
          <p:nvPr/>
        </p:nvSpPr>
        <p:spPr>
          <a:xfrm>
            <a:off x="685800" y="576072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= Extract sync (10s)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3200400" y="5760720"/>
            <a:ext cx="137160" cy="13716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30" name="Text 27"/>
          <p:cNvSpPr/>
          <p:nvPr/>
        </p:nvSpPr>
        <p:spPr>
          <a:xfrm>
            <a:off x="3429000" y="576072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= Stock deduct (15s)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5943600" y="5760720"/>
            <a:ext cx="137160" cy="13716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32" name="Text 29"/>
          <p:cNvSpPr/>
          <p:nvPr/>
        </p:nvSpPr>
        <p:spPr>
          <a:xfrm>
            <a:off x="6172200" y="576072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= Dashboard refresh (30s)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79504" y="65151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8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PROJECT OUTCOMES: MEASURABLE IMPROVEMENTS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548640" y="841248"/>
            <a:ext cx="11064240" cy="36576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4" name="Image 0" descr="C:\Users\ashwi\Videos\movies\JSPulse Occupational Health Management System - ASHWINI KUMAR\src\assets\app-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9920" y="137160"/>
            <a:ext cx="594360" cy="594360"/>
          </a:xfrm>
          <a:prstGeom prst="rect">
            <a:avLst/>
          </a:prstGeom>
        </p:spPr>
      </p:pic>
      <p:pic>
        <p:nvPicPr>
          <p:cNvPr id="5" name="Image 1" descr="C:\Users\ashwi\Videos\movies\JSPulse Occupational Health Management System - ASHWINI KUMAR\build\jindal-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137160"/>
            <a:ext cx="1097280" cy="548640"/>
          </a:xfrm>
          <a:prstGeom prst="rect">
            <a:avLst/>
          </a:prstGeom>
        </p:spPr>
      </p:pic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97280"/>
          <a:ext cx="11064240" cy="4389120"/>
        </p:xfrm>
        <a:graphic>
          <a:graphicData uri="http://schemas.openxmlformats.org/drawingml/2006/table">
            <a:tbl>
              <a:tblPr/>
              <a:tblGrid>
                <a:gridCol w="2377440"/>
                <a:gridCol w="2560320"/>
                <a:gridCol w="2926080"/>
                <a:gridCol w="1828800"/>
              </a:tblGrid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Operational Area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Before (Paper)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After (JSPulse OHMS)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Impact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OPD Patient Logging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 min per entry (handwritten)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15 sec (digital form + auto-ID)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87% faster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Prescription to Pharmacy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60 sec manual copy + errors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Auto-sync every 10 seconds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100% accurate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Stock Inventory Check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Physical inspection daily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Live counts + expiry alerts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Zero errors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Monthly MIS Report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4-6 hours manual compilation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One-click auto-aggregation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98% time saved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Compliance Audit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Hours of ledger searching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Instant PDF/Excel export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Audit-ready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Data Storage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Paper ledgers (fire/water risk)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IndexedDB + disk backup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Zero data loss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Network Dependency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Cloud apps crash on outage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100% offline operation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Zero downtime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2"/>
          <p:cNvSpPr/>
          <p:nvPr/>
        </p:nvSpPr>
        <p:spPr>
          <a:xfrm>
            <a:off x="365760" y="566928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JSPulse OHMS eliminates 100% of paper transcription errors and ensures complete regulatory compliance under the Factories Act, 1948.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79504" y="65151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8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HOW JSPulse OHMS SOLVES OHC CHALLENGES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548640" y="841248"/>
            <a:ext cx="1106424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463040"/>
            <a:ext cx="3383280" cy="411480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BFDBF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5544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 INSTANT REGISTRATION &amp; SYNC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920240"/>
            <a:ext cx="320040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OPD Card Form: Auto-generates unique OPD IDs and scales to vitals entry in under 15 seconds.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Automated Sync: Background threads automatically extract prescriptions from doctor logs every 10 seconds, pushing them to the pharmacy queue and eliminating transcription errors.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389120" y="1463040"/>
            <a:ext cx="3383280" cy="411480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A7F3D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80560" y="15544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4E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 REAL-TIME STOCK &amp; BALANCE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480560" y="1920240"/>
            <a:ext cx="320040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Auto-Deduction: Pharmacy dispensing triggers live medicine stock deduction with fuzzy matching.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Consumption Grids: 31-day x 7-section x 4-shift grid auto-sums daily consumption, instantly updating monthly balance sheets and preventing critical drug stockouts.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229600" y="1463040"/>
            <a:ext cx="3383280" cy="4114800"/>
          </a:xfrm>
          <a:prstGeom prst="roundRect">
            <a:avLst/>
          </a:prstGeom>
          <a:solidFill>
            <a:srgbClr val="E0F2FE"/>
          </a:solidFill>
          <a:ln w="19050">
            <a:solidFill>
              <a:srgbClr val="BAE6F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21040" y="15544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369A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 COMPLIANCE &amp; OFFLINE RESILIENCE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321040" y="1920240"/>
            <a:ext cx="320040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One-Click Audits: Generate comprehensive MIS reports and PDF/Excel logs instantly to ensure Factories Act, 1948 audit compliance.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Offline Desktop Shell: Runs locally in Electron, guaranteeing zero downtime and 100% data access during steel plant network or cloud server outages.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79504" y="65151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shwi\Videos\movies\JSPulse Occupational Health Management System - ASHWINI KUMAR\src\assets\app-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0" y="274320"/>
            <a:ext cx="1097280" cy="1097280"/>
          </a:xfrm>
          <a:prstGeom prst="rect">
            <a:avLst/>
          </a:prstGeom>
        </p:spPr>
      </p:pic>
      <p:pic>
        <p:nvPicPr>
          <p:cNvPr id="3" name="Image 1" descr="C:\Users\ashwi\Videos\movies\JSPulse Occupational Health Management System - ASHWINI KUMAR\build\jindal-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274320"/>
            <a:ext cx="1828800" cy="9144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8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FUTURE SCOPE &amp; RECOMMENDATIONS</a:t>
            </a:r>
            <a:endParaRPr lang="en-US" sz="2400" dirty="0"/>
          </a:p>
        </p:txBody>
      </p:sp>
      <p:sp>
        <p:nvSpPr>
          <p:cNvPr id="5" name="Shape 1"/>
          <p:cNvSpPr/>
          <p:nvPr/>
        </p:nvSpPr>
        <p:spPr>
          <a:xfrm>
            <a:off x="457200" y="2011680"/>
            <a:ext cx="11247120" cy="18288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6" name="Text 2"/>
          <p:cNvSpPr/>
          <p:nvPr/>
        </p:nvSpPr>
        <p:spPr>
          <a:xfrm>
            <a:off x="457200" y="2286000"/>
            <a:ext cx="112471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USB Barcode Scanners - Interface pharmacy barcodes with dispense queues</a:t>
            </a:r>
            <a:endParaRPr lang="en-US" sz="1200" dirty="0"/>
          </a:p>
          <a:p>
            <a:pPr indent="0" marL="0">
              <a:lnSpc>
                <a:spcPts val="1500"/>
              </a:lnSpc>
              <a:buNone/>
            </a:pPr>
            <a:endParaRPr lang="en-US" sz="12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OCR Prescription Scanner - Camera module to extract text from printed slips</a:t>
            </a:r>
            <a:endParaRPr lang="en-US" sz="1200" dirty="0"/>
          </a:p>
          <a:p>
            <a:pPr indent="0" marL="0">
              <a:lnSpc>
                <a:spcPts val="1500"/>
              </a:lnSpc>
              <a:buNone/>
            </a:pPr>
            <a:endParaRPr lang="en-US" sz="12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Encrypted Cloud Sync - Background upload when network is available</a:t>
            </a:r>
            <a:endParaRPr lang="en-US" sz="1200" dirty="0"/>
          </a:p>
          <a:p>
            <a:pPr indent="0" marL="0">
              <a:lnSpc>
                <a:spcPts val="1500"/>
              </a:lnSpc>
              <a:buNone/>
            </a:pPr>
            <a:endParaRPr lang="en-US" sz="12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Mobile Companion App - React Native app for doctors during ward rounds</a:t>
            </a:r>
            <a:endParaRPr lang="en-US" sz="1200" dirty="0"/>
          </a:p>
        </p:txBody>
      </p:sp>
      <p:sp>
        <p:nvSpPr>
          <p:cNvPr id="7" name="Shape 3"/>
          <p:cNvSpPr/>
          <p:nvPr/>
        </p:nvSpPr>
        <p:spPr>
          <a:xfrm>
            <a:off x="457200" y="4937760"/>
            <a:ext cx="1124712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Text 4"/>
          <p:cNvSpPr/>
          <p:nvPr/>
        </p:nvSpPr>
        <p:spPr>
          <a:xfrm>
            <a:off x="457200" y="512064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E3A8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THANK YOU</a:t>
            </a:r>
            <a:endParaRPr lang="en-US" sz="3200" dirty="0"/>
          </a:p>
        </p:txBody>
      </p:sp>
      <p:sp>
        <p:nvSpPr>
          <p:cNvPr id="9" name="Text 5"/>
          <p:cNvSpPr/>
          <p:nvPr/>
        </p:nvSpPr>
        <p:spPr>
          <a:xfrm>
            <a:off x="457200" y="566928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Ashwini Kumar  |  Jindal Steel &amp; Power Ltd.  |  Summer 2026 Internship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8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Image Sources</a:t>
            </a:r>
            <a:endParaRPr lang="en-US" sz="2800" dirty="0"/>
          </a:p>
        </p:txBody>
      </p:sp>
      <p:pic>
        <p:nvPicPr>
          <p:cNvPr id="3" name="Image 0" descr="C:\Users\ashwi\Videos\movies\JSPulse Occupational Health Management System - ASHWINI KUMAR\downloaded_assets\rvs_log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280160"/>
            <a:ext cx="109728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0" y="1280160"/>
            <a:ext cx="9784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https://www.rvscollege.ac.in/wp-content/uploads/2025/04/RVSCET-Website-295x80-Logo.png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1828800" y="1600200"/>
            <a:ext cx="9784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www.rvscollege.ac.in</a:t>
            </a:r>
            <a:endParaRPr lang="en-US" sz="950" dirty="0"/>
          </a:p>
        </p:txBody>
      </p:sp>
      <p:pic>
        <p:nvPicPr>
          <p:cNvPr id="6" name="Image 1" descr="C:\Users\ashwi\Videos\movies\JSPulse Occupational Health Management System - ASHWINI KUMAR\downloaded_assets\plant_overview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48640" y="2148840"/>
            <a:ext cx="1097280" cy="6400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828800" y="2148840"/>
            <a:ext cx="9784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https://blogger.googleusercontent.com/img/b/R29vZ2xl/...</a:t>
            </a:r>
            <a:endParaRPr lang="en-US" sz="950" dirty="0"/>
          </a:p>
        </p:txBody>
      </p:sp>
      <p:sp>
        <p:nvSpPr>
          <p:cNvPr id="8" name="Text 4"/>
          <p:cNvSpPr/>
          <p:nvPr/>
        </p:nvSpPr>
        <p:spPr>
          <a:xfrm>
            <a:off x="1828800" y="2468880"/>
            <a:ext cx="9784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www.patratu.com</a:t>
            </a:r>
            <a:endParaRPr lang="en-US" sz="950" dirty="0"/>
          </a:p>
        </p:txBody>
      </p:sp>
      <p:pic>
        <p:nvPicPr>
          <p:cNvPr id="9" name="Image 2" descr="C:\Users\ashwi\Videos\movies\JSPulse Occupational Health Management System - ASHWINI KUMAR\downloaded_assets\brm_mill.webp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48640" y="3017520"/>
            <a:ext cx="1097280" cy="64008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828800" y="3017520"/>
            <a:ext cx="9784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https://jindaltmt550.com/images/mp/manufacturing-process-stage-5-mob.webp</a:t>
            </a:r>
            <a:endParaRPr lang="en-US" sz="950" dirty="0"/>
          </a:p>
        </p:txBody>
      </p:sp>
      <p:sp>
        <p:nvSpPr>
          <p:cNvPr id="11" name="Text 6"/>
          <p:cNvSpPr/>
          <p:nvPr/>
        </p:nvSpPr>
        <p:spPr>
          <a:xfrm>
            <a:off x="1828800" y="3337560"/>
            <a:ext cx="9784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jindaltmt550.com</a:t>
            </a:r>
            <a:endParaRPr lang="en-US" sz="950" dirty="0"/>
          </a:p>
        </p:txBody>
      </p:sp>
      <p:pic>
        <p:nvPicPr>
          <p:cNvPr id="12" name="Image 3" descr="C:\Users\ashwi\Videos\movies\JSPulse Occupational Health Management System - ASHWINI KUMAR\downloaded_assets\rebar_machine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548640" y="3886200"/>
            <a:ext cx="1097280" cy="64008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828800" y="3886200"/>
            <a:ext cx="9784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https://ik.imagekit.io/sctpl/Untitled%20design%20-%202026-02-07T121813.187.png</a:t>
            </a:r>
            <a:endParaRPr lang="en-US" sz="950" dirty="0"/>
          </a:p>
        </p:txBody>
      </p:sp>
      <p:sp>
        <p:nvSpPr>
          <p:cNvPr id="14" name="Text 8"/>
          <p:cNvSpPr/>
          <p:nvPr/>
        </p:nvSpPr>
        <p:spPr>
          <a:xfrm>
            <a:off x="1828800" y="4206240"/>
            <a:ext cx="9784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www.sonavibrators.com</a:t>
            </a:r>
            <a:endParaRPr lang="en-US" sz="950" dirty="0"/>
          </a:p>
        </p:txBody>
      </p:sp>
      <p:pic>
        <p:nvPicPr>
          <p:cNvPr id="15" name="Image 4" descr="C:\Users\ashwi\Videos\movies\JSPulse Occupational Health Management System - ASHWINI KUMAR\downloaded_assets\it_department.jp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548640" y="4754880"/>
            <a:ext cx="1097280" cy="64008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828800" y="4754880"/>
            <a:ext cx="9784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https://framerusercontent.com/images/TfHUCkLw85zPq7NPdT2KvJC5CU.jpg</a:t>
            </a:r>
            <a:endParaRPr lang="en-US" sz="950" dirty="0"/>
          </a:p>
        </p:txBody>
      </p:sp>
      <p:sp>
        <p:nvSpPr>
          <p:cNvPr id="17" name="Text 10"/>
          <p:cNvSpPr/>
          <p:nvPr/>
        </p:nvSpPr>
        <p:spPr>
          <a:xfrm>
            <a:off x="1828800" y="5074920"/>
            <a:ext cx="9784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shieldworkz.com</a:t>
            </a:r>
            <a:endParaRPr lang="en-US" sz="950" dirty="0"/>
          </a:p>
        </p:txBody>
      </p:sp>
      <p:pic>
        <p:nvPicPr>
          <p:cNvPr id="18" name="Image 5" descr="C:\Users\ashwi\Videos\movies\JSPulse Occupational Health Management System - ASHWINI KUMAR\downloaded_assets\ohc_collage.jp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548640" y="5623560"/>
            <a:ext cx="1097280" cy="640080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1828800" y="5623560"/>
            <a:ext cx="9784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https://www.jindalstainless.com/wp-content/uploads/2026/04/Inaguration-collage.jpg</a:t>
            </a:r>
            <a:endParaRPr lang="en-US" sz="950" dirty="0"/>
          </a:p>
        </p:txBody>
      </p:sp>
      <p:sp>
        <p:nvSpPr>
          <p:cNvPr id="20" name="Text 12"/>
          <p:cNvSpPr/>
          <p:nvPr/>
        </p:nvSpPr>
        <p:spPr>
          <a:xfrm>
            <a:off x="1828800" y="5943600"/>
            <a:ext cx="9784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www.jindalstainless.com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2026-07-09T14:57:34Z</dcterms:created>
  <dcterms:modified xsi:type="dcterms:W3CDTF">2026-07-09T14:57:34Z</dcterms:modified>
</cp:coreProperties>
</file>